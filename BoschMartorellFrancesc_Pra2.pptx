
<file path=[Content_Types].xml><?xml version="1.0" encoding="utf-8"?>
<Types xmlns="http://schemas.openxmlformats.org/package/2006/content-types">
  <Default Extension="bmp" ContentType="image/bmp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76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9" r:id="rId6"/>
    <p:sldId id="263" r:id="rId7"/>
    <p:sldId id="264" r:id="rId8"/>
    <p:sldId id="265" r:id="rId9"/>
    <p:sldId id="262" r:id="rId10"/>
    <p:sldId id="266" r:id="rId11"/>
    <p:sldId id="260" r:id="rId12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05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8627C86-0A06-4AFA-8619-4771DB488B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5E16A4-9F40-442F-BB9F-5DB89B117B0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C978BB-17AB-49B9-831D-E0A226C1140D}" type="datetimeFigureOut">
              <a:rPr lang="es-ES" smtClean="0"/>
              <a:t>13/01/2026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979291C-8864-4C7E-9BE1-CEDDECE510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830B5-FE2A-42D4-930A-4CC171CE8A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1516F7-CC4C-4572-9A13-9CBD1F476B2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6330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7C793-600A-4516-927F-947C954D8023}" type="datetimeFigureOut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 dirty="0"/>
              <a:t>Editar estilos de texto del patrón</a:t>
            </a:r>
          </a:p>
          <a:p>
            <a:pPr lvl="1"/>
            <a:r>
              <a:rPr lang="es-ES" noProof="0" dirty="0"/>
              <a:t>Segundo nivel</a:t>
            </a:r>
          </a:p>
          <a:p>
            <a:pPr lvl="2"/>
            <a:r>
              <a:rPr lang="es-ES" noProof="0" dirty="0"/>
              <a:t>Tercer nivel</a:t>
            </a:r>
          </a:p>
          <a:p>
            <a:pPr lvl="3"/>
            <a:r>
              <a:rPr lang="es-ES" noProof="0" dirty="0"/>
              <a:t>Cuarto nivel</a:t>
            </a:r>
          </a:p>
          <a:p>
            <a:pPr lvl="4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8D66D-B8C4-4C71-AFDB-4F8602FE9580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62065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7034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3282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6610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280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09286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71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701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8D66D-B8C4-4C71-AFDB-4F8602FE9580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4053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ángulo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ángulo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upo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Conector recto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 smtClean="0"/>
              <a:t>Haga clic para editar el estilo de subtítulo del patrón</a:t>
            </a:r>
            <a:endParaRPr lang="es-ES" noProof="0"/>
          </a:p>
        </p:txBody>
      </p:sp>
      <p:sp>
        <p:nvSpPr>
          <p:cNvPr id="20" name="Marcador de posición de fecha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7610C9F1-60D2-4D1C-B89C-9F9966ED900D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21" name="Marcador de posición de pie de página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22" name="Marcador de posición de número de diapositiva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 sz="1800"/>
            </a:lvl1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ED689D8-1390-447D-BE19-F6D5EEF5492B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ángulo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ángulo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ángulo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upo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Conector recto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rtlCol="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563624" y="4682062"/>
            <a:ext cx="9070848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9364C9D6-9F1A-453E-A424-93F2690E71F9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 hasCustomPrompt="1"/>
          </p:nvPr>
        </p:nvSpPr>
        <p:spPr>
          <a:xfrm>
            <a:off x="106680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6370320" y="2103120"/>
            <a:ext cx="475488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84544BF3-413D-4595-9F8C-D91E7937F37D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 hasCustomPrompt="1"/>
          </p:nvPr>
        </p:nvSpPr>
        <p:spPr>
          <a:xfrm>
            <a:off x="106984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 hasCustomPrompt="1"/>
          </p:nvPr>
        </p:nvSpPr>
        <p:spPr>
          <a:xfrm>
            <a:off x="1069848" y="2755898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373368" y="2074334"/>
            <a:ext cx="4754880" cy="640080"/>
          </a:xfrm>
        </p:spPr>
        <p:txBody>
          <a:bodyPr rtlCol="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 hasCustomPrompt="1"/>
          </p:nvPr>
        </p:nvSpPr>
        <p:spPr>
          <a:xfrm>
            <a:off x="6373368" y="2756581"/>
            <a:ext cx="4754880" cy="320040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57D6BF9E-7CF2-4B2B-9DB2-5A2AB03E41C9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8" name="Marcador de posición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9D8B4B4F-F042-47DC-829C-166835A561CC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4" name="Marcador de posición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53C2E1D-7BAD-4EB1-AF16-7910ABF5B599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ángulo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ángulo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790575" y="704850"/>
            <a:ext cx="7562850" cy="51435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0780" cy="35052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DA921DE-2EA3-4C3D-8AF3-9E6B3697C994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 rtlCol="0"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11" name="Rectángulo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ángulo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rtlCol="0"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ES" noProof="0" smtClean="0"/>
              <a:t>Haga clic en el icono para agregar una imagen</a:t>
            </a:r>
            <a:endParaRPr lang="es-ES" noProof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9296400" y="2286000"/>
            <a:ext cx="2432304" cy="3502152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5AA60543-E69F-4E28-B8F5-FF924A50D477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DE404415-8C3B-4357-9F1F-F89AF8F0CE05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es-ES" noProof="0" smtClean="0"/>
              <a:t>Haga clic para modificar el estilo de título del patrón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986A27CE-E4FF-4E4C-90C6-74D29C6C5B05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ángulo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osición de fecha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CEABC672-13F0-4EAD-8EF0-47AAAAD40C0C}" type="datetime1">
              <a:rPr lang="es-ES" noProof="0" smtClean="0"/>
              <a:t>13/01/2026</a:t>
            </a:fld>
            <a:endParaRPr lang="es-ES" noProof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posición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pPr rtl="0"/>
            <a:fld id="{4FAB73BC-B049-4115-A692-8D63A059BFB8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ublic.flourish.studio/visualisation/27176441/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hyperlink" Target="https://public.flourish.studio/visualisation/27180853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public.flourish.studio/visualisation/27181692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public.flourish.studio/visualisation/27182444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flourish.studio/visualisation/27182411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public.flourish.studio/visualisation/27182346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flourish.studio/visualisation/27182404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https://public.flourish.studio/visualisation/27182381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b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rchive.ics.uci.edu/dataset/1186/paddy+dataset" TargetMode="External"/><Relationship Id="rId5" Type="http://schemas.openxmlformats.org/officeDocument/2006/relationships/hyperlink" Target="mailto:fbosch@uoc.edu" TargetMode="External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93BFCDB3-13C4-4D69-848D-3F1F4D6B8F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C2B9599-6E7A-4DD2-B13A-B4F68A1351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377648-1ED1-4112-805B-16C14CE995F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/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63B59CB-289C-4850-A932-358B9E412BA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877" y="806752"/>
            <a:ext cx="6570161" cy="5244497"/>
          </a:xfrm>
          <a:prstGeom prst="rect">
            <a:avLst/>
          </a:prstGeom>
          <a:solidFill>
            <a:schemeClr val="tx1"/>
          </a:solidFill>
          <a:ln w="6350" cap="sq" cmpd="sng" algn="ctr">
            <a:solidFill>
              <a:schemeClr val="bg2"/>
            </a:solidFill>
            <a:prstDash val="solid"/>
            <a:miter lim="800000"/>
          </a:ln>
          <a:effectLst/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98867647-07B7-4265-832F-DE0E80979AC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516AC468-2C3D-4337-A9A2-81175F6D54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2A873262-74DB-4FD1-9625-E4616CF011D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09F3D15D-CB95-47AD-87F5-9CFF84F615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ED90EC3D-482A-4E73-B198-E8341A0D09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4167" y="1442916"/>
            <a:ext cx="3690851" cy="3252231"/>
          </a:xfrm>
        </p:spPr>
        <p:txBody>
          <a:bodyPr rtlCol="0">
            <a:normAutofit/>
          </a:bodyPr>
          <a:lstStyle/>
          <a:p>
            <a:r>
              <a:rPr lang="es-ES" sz="4800" dirty="0" err="1" smtClean="0">
                <a:solidFill>
                  <a:srgbClr val="FFFFFF"/>
                </a:solidFill>
              </a:rPr>
              <a:t>Pràctica</a:t>
            </a:r>
            <a:r>
              <a:rPr lang="es-ES" sz="4800" dirty="0" smtClean="0">
                <a:solidFill>
                  <a:srgbClr val="FFFFFF"/>
                </a:solidFill>
              </a:rPr>
              <a:t> 2</a:t>
            </a:r>
            <a:br>
              <a:rPr lang="es-ES" sz="4800" dirty="0" smtClean="0">
                <a:solidFill>
                  <a:srgbClr val="FFFFFF"/>
                </a:solidFill>
              </a:rPr>
            </a:br>
            <a:r>
              <a:rPr lang="es-ES" sz="2800" dirty="0" err="1" smtClean="0">
                <a:solidFill>
                  <a:srgbClr val="FFFFFF"/>
                </a:solidFill>
              </a:rPr>
              <a:t>Visualització</a:t>
            </a:r>
            <a:r>
              <a:rPr lang="es-ES" sz="2800" dirty="0" smtClean="0">
                <a:solidFill>
                  <a:srgbClr val="FFFFFF"/>
                </a:solidFill>
              </a:rPr>
              <a:t> de </a:t>
            </a:r>
            <a:r>
              <a:rPr lang="es-ES" sz="2800" dirty="0" err="1" smtClean="0">
                <a:solidFill>
                  <a:srgbClr val="FFFFFF"/>
                </a:solidFill>
              </a:rPr>
              <a:t>dades</a:t>
            </a:r>
            <a:endParaRPr lang="es-ES" sz="2800" dirty="0">
              <a:solidFill>
                <a:srgbClr val="FFFFFF"/>
              </a:solidFill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2048EE7C-B77F-4E59-88A7-DD66337B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61862" y="6051249"/>
            <a:ext cx="3433156" cy="402718"/>
          </a:xfrm>
        </p:spPr>
        <p:txBody>
          <a:bodyPr rtlCol="0">
            <a:normAutofit/>
          </a:bodyPr>
          <a:lstStyle/>
          <a:p>
            <a:pPr rtl="0"/>
            <a:r>
              <a:rPr lang="es-ES" sz="1400" dirty="0" smtClean="0">
                <a:solidFill>
                  <a:srgbClr val="FFFFFF"/>
                </a:solidFill>
              </a:rPr>
              <a:t>Francesc Llàtzer Bosch Martorell</a:t>
            </a:r>
            <a:endParaRPr lang="es-ES" sz="1400" dirty="0">
              <a:solidFill>
                <a:srgbClr val="FFFFFF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77" y="2525325"/>
            <a:ext cx="6570161" cy="3285081"/>
          </a:xfrm>
          <a:prstGeom prst="rect">
            <a:avLst/>
          </a:prstGeom>
        </p:spPr>
      </p:pic>
      <p:sp>
        <p:nvSpPr>
          <p:cNvPr id="14" name="Subtítulo 6">
            <a:extLst>
              <a:ext uri="{FF2B5EF4-FFF2-40B4-BE49-F238E27FC236}">
                <a16:creationId xmlns:a16="http://schemas.microsoft.com/office/drawing/2014/main" id="{2048EE7C-B77F-4E59-88A7-DD66337BB69C}"/>
              </a:ext>
            </a:extLst>
          </p:cNvPr>
          <p:cNvSpPr txBox="1">
            <a:spLocks/>
          </p:cNvSpPr>
          <p:nvPr/>
        </p:nvSpPr>
        <p:spPr>
          <a:xfrm>
            <a:off x="2013569" y="1501190"/>
            <a:ext cx="4181302" cy="856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 spc="8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 err="1" smtClean="0">
                <a:solidFill>
                  <a:schemeClr val="accent1"/>
                </a:solidFill>
                <a:latin typeface="+mj-lt"/>
              </a:rPr>
              <a:t>Estudi</a:t>
            </a:r>
            <a:r>
              <a:rPr lang="es-ES" sz="2000" dirty="0" smtClean="0">
                <a:solidFill>
                  <a:schemeClr val="accent1"/>
                </a:solidFill>
                <a:latin typeface="+mj-lt"/>
              </a:rPr>
              <a:t> </a:t>
            </a:r>
            <a:r>
              <a:rPr lang="es-ES" sz="2000" dirty="0" err="1" smtClean="0">
                <a:solidFill>
                  <a:schemeClr val="accent1"/>
                </a:solidFill>
                <a:latin typeface="+mj-lt"/>
              </a:rPr>
              <a:t>dels</a:t>
            </a:r>
            <a:r>
              <a:rPr lang="es-ES" sz="2000" dirty="0" smtClean="0">
                <a:solidFill>
                  <a:schemeClr val="accent1"/>
                </a:solidFill>
                <a:latin typeface="+mj-lt"/>
              </a:rPr>
              <a:t> </a:t>
            </a:r>
            <a:r>
              <a:rPr lang="es-ES" sz="2000" dirty="0" err="1" smtClean="0">
                <a:solidFill>
                  <a:schemeClr val="accent1"/>
                </a:solidFill>
                <a:latin typeface="+mj-lt"/>
              </a:rPr>
              <a:t>factors</a:t>
            </a:r>
            <a:r>
              <a:rPr lang="es-ES" sz="2000" dirty="0" smtClean="0">
                <a:solidFill>
                  <a:schemeClr val="accent1"/>
                </a:solidFill>
                <a:latin typeface="+mj-lt"/>
              </a:rPr>
              <a:t> </a:t>
            </a:r>
            <a:r>
              <a:rPr lang="es-ES" sz="2000" dirty="0" err="1" smtClean="0">
                <a:solidFill>
                  <a:schemeClr val="accent1"/>
                </a:solidFill>
                <a:latin typeface="+mj-lt"/>
              </a:rPr>
              <a:t>ambientals</a:t>
            </a:r>
            <a:r>
              <a:rPr lang="es-ES" sz="2000" dirty="0" smtClean="0">
                <a:solidFill>
                  <a:schemeClr val="accent1"/>
                </a:solidFill>
                <a:latin typeface="+mj-lt"/>
              </a:rPr>
              <a:t> a la </a:t>
            </a:r>
            <a:r>
              <a:rPr lang="es-ES" sz="2000" dirty="0" err="1" smtClean="0">
                <a:solidFill>
                  <a:schemeClr val="accent1"/>
                </a:solidFill>
                <a:latin typeface="+mj-lt"/>
              </a:rPr>
              <a:t>sembra</a:t>
            </a:r>
            <a:r>
              <a:rPr lang="es-ES" sz="2000" dirty="0" smtClean="0">
                <a:solidFill>
                  <a:schemeClr val="accent1"/>
                </a:solidFill>
                <a:latin typeface="+mj-lt"/>
              </a:rPr>
              <a:t> de </a:t>
            </a:r>
            <a:r>
              <a:rPr lang="es-ES" sz="2000" dirty="0" err="1" smtClean="0">
                <a:solidFill>
                  <a:schemeClr val="accent1"/>
                </a:solidFill>
                <a:latin typeface="+mj-lt"/>
              </a:rPr>
              <a:t>l’arròs</a:t>
            </a:r>
            <a:r>
              <a:rPr lang="es-ES" sz="2000" dirty="0" smtClean="0">
                <a:solidFill>
                  <a:schemeClr val="accent1"/>
                </a:solidFill>
                <a:latin typeface="+mj-lt"/>
              </a:rPr>
              <a:t> </a:t>
            </a:r>
            <a:endParaRPr lang="es-ES" sz="2000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576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B763E74-B111-4F0A-990A-DC546EDB60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261977-BEC4-4705-BB60-C4C0C74711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E61F1EFE-E608-4FCB-8DBB-12FA3AC1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43" y="643464"/>
            <a:ext cx="6909336" cy="557107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17" name="Rectángulo 16">
            <a:extLst>
              <a:ext uri="{FF2B5EF4-FFF2-40B4-BE49-F238E27FC236}">
                <a16:creationId xmlns:a16="http://schemas.microsoft.com/office/drawing/2014/main" id="{4C7DD595-7EA3-45FF-B181-2B606353F7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071" y="809244"/>
            <a:ext cx="6583680" cy="5239512"/>
          </a:xfrm>
          <a:prstGeom prst="rect">
            <a:avLst/>
          </a:prstGeom>
          <a:ln w="6350" cap="sq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48B10FE-6408-43F6-9A62-B98F2DB0FF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971" y="-1"/>
            <a:ext cx="4025029" cy="6858000"/>
          </a:xfrm>
          <a:prstGeom prst="rect">
            <a:avLst/>
          </a:prstGeom>
          <a:blipFill dpi="0" rotWithShape="1">
            <a:blip r:embed="rId3">
              <a:alphaModFix amt="1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541" y="646849"/>
            <a:ext cx="3468080" cy="5571071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4400" dirty="0" smtClean="0">
                <a:solidFill>
                  <a:srgbClr val="FFFFFF"/>
                </a:solidFill>
              </a:rPr>
              <a:t>ÚS DE FERTILITZANT</a:t>
            </a:r>
            <a:endParaRPr lang="es-ES" sz="4400" dirty="0">
              <a:solidFill>
                <a:srgbClr val="FFFFFF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736" y="845201"/>
            <a:ext cx="5770350" cy="3683525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 txBox="1">
            <a:spLocks/>
          </p:cNvSpPr>
          <p:nvPr/>
        </p:nvSpPr>
        <p:spPr>
          <a:xfrm>
            <a:off x="1280161" y="4762473"/>
            <a:ext cx="5702925" cy="350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z="1200" dirty="0">
                <a:solidFill>
                  <a:schemeClr val="accent1"/>
                </a:solidFill>
              </a:rPr>
              <a:t>Disponible a: </a:t>
            </a:r>
            <a:r>
              <a:rPr lang="es-ES" sz="1200" dirty="0">
                <a:solidFill>
                  <a:schemeClr val="accent1"/>
                </a:solidFill>
                <a:hlinkClick r:id="rId5"/>
              </a:rPr>
              <a:t>https://public.flourish.studio/visualisation/27176441</a:t>
            </a:r>
            <a:r>
              <a:rPr lang="es-ES" sz="1200" dirty="0" smtClean="0">
                <a:solidFill>
                  <a:schemeClr val="accent1"/>
                </a:solidFill>
                <a:hlinkClick r:id="rId5"/>
              </a:rPr>
              <a:t>/</a:t>
            </a:r>
            <a:endParaRPr lang="es-E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772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B763E74-B111-4F0A-990A-DC546EDB60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261977-BEC4-4705-BB60-C4C0C74711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E61F1EFE-E608-4FCB-8DBB-12FA3AC1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43" y="643464"/>
            <a:ext cx="6909336" cy="557107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17" name="Rectángulo 16">
            <a:extLst>
              <a:ext uri="{FF2B5EF4-FFF2-40B4-BE49-F238E27FC236}">
                <a16:creationId xmlns:a16="http://schemas.microsoft.com/office/drawing/2014/main" id="{4C7DD595-7EA3-45FF-B181-2B606353F7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071" y="809244"/>
            <a:ext cx="6583680" cy="5239512"/>
          </a:xfrm>
          <a:prstGeom prst="rect">
            <a:avLst/>
          </a:prstGeom>
          <a:ln w="6350" cap="sq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48B10FE-6408-43F6-9A62-B98F2DB0FF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971" y="-1"/>
            <a:ext cx="4025029" cy="6858000"/>
          </a:xfrm>
          <a:prstGeom prst="rect">
            <a:avLst/>
          </a:prstGeom>
          <a:blipFill dpi="0" rotWithShape="1">
            <a:blip r:embed="rId3">
              <a:alphaModFix amt="1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541" y="646849"/>
            <a:ext cx="3468080" cy="5571071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4400" dirty="0" smtClean="0">
                <a:solidFill>
                  <a:srgbClr val="FFFFFF"/>
                </a:solidFill>
              </a:rPr>
              <a:t>VELOCITAT DEL VENT</a:t>
            </a:r>
            <a:endParaRPr lang="es-ES" sz="4400" dirty="0">
              <a:solidFill>
                <a:srgbClr val="FFFFFF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 txBox="1">
            <a:spLocks/>
          </p:cNvSpPr>
          <p:nvPr/>
        </p:nvSpPr>
        <p:spPr>
          <a:xfrm>
            <a:off x="1280161" y="4762473"/>
            <a:ext cx="5702925" cy="350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z="1200" dirty="0">
                <a:solidFill>
                  <a:schemeClr val="accent1"/>
                </a:solidFill>
              </a:rPr>
              <a:t>Disponible a: </a:t>
            </a:r>
            <a:r>
              <a:rPr lang="es-ES" sz="1200" dirty="0">
                <a:solidFill>
                  <a:schemeClr val="accent1"/>
                </a:solidFill>
                <a:hlinkClick r:id="rId4"/>
              </a:rPr>
              <a:t>https://public.flourish.studio/visualisation/27180853</a:t>
            </a:r>
            <a:r>
              <a:rPr lang="es-ES" sz="1200" dirty="0" smtClean="0">
                <a:solidFill>
                  <a:schemeClr val="accent1"/>
                </a:solidFill>
                <a:hlinkClick r:id="rId4"/>
              </a:rPr>
              <a:t>/</a:t>
            </a:r>
            <a:endParaRPr lang="es-ES" sz="1200" dirty="0">
              <a:solidFill>
                <a:schemeClr val="accent1"/>
              </a:solidFill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47" y="911248"/>
            <a:ext cx="6158751" cy="373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245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B763E74-B111-4F0A-990A-DC546EDB60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261977-BEC4-4705-BB60-C4C0C74711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E61F1EFE-E608-4FCB-8DBB-12FA3AC1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43" y="643464"/>
            <a:ext cx="6909336" cy="557107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17" name="Rectángulo 16">
            <a:extLst>
              <a:ext uri="{FF2B5EF4-FFF2-40B4-BE49-F238E27FC236}">
                <a16:creationId xmlns:a16="http://schemas.microsoft.com/office/drawing/2014/main" id="{4C7DD595-7EA3-45FF-B181-2B606353F7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071" y="809244"/>
            <a:ext cx="6583680" cy="5239512"/>
          </a:xfrm>
          <a:prstGeom prst="rect">
            <a:avLst/>
          </a:prstGeom>
          <a:ln w="6350" cap="sq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48B10FE-6408-43F6-9A62-B98F2DB0FF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971" y="-1"/>
            <a:ext cx="4025029" cy="6858000"/>
          </a:xfrm>
          <a:prstGeom prst="rect">
            <a:avLst/>
          </a:prstGeom>
          <a:blipFill dpi="0" rotWithShape="1">
            <a:blip r:embed="rId3">
              <a:alphaModFix amt="1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3541" y="646849"/>
            <a:ext cx="3468080" cy="5571071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4400" dirty="0" smtClean="0">
                <a:solidFill>
                  <a:srgbClr val="FFFFFF"/>
                </a:solidFill>
              </a:rPr>
              <a:t>HUMITAT RELATIVA</a:t>
            </a:r>
            <a:endParaRPr lang="es-ES" sz="4400" dirty="0">
              <a:solidFill>
                <a:srgbClr val="FFFFFF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 txBox="1">
            <a:spLocks/>
          </p:cNvSpPr>
          <p:nvPr/>
        </p:nvSpPr>
        <p:spPr>
          <a:xfrm>
            <a:off x="1364830" y="4861917"/>
            <a:ext cx="5702925" cy="350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z="1200" dirty="0">
                <a:solidFill>
                  <a:schemeClr val="accent1"/>
                </a:solidFill>
              </a:rPr>
              <a:t>Disponible </a:t>
            </a:r>
            <a:r>
              <a:rPr lang="es-ES" sz="1200" dirty="0" smtClean="0">
                <a:solidFill>
                  <a:schemeClr val="accent1"/>
                </a:solidFill>
              </a:rPr>
              <a:t>a: </a:t>
            </a:r>
            <a:r>
              <a:rPr lang="es-ES" sz="1200" dirty="0" smtClean="0">
                <a:solidFill>
                  <a:schemeClr val="accent1"/>
                </a:solidFill>
                <a:hlinkClick r:id="rId4"/>
              </a:rPr>
              <a:t>https</a:t>
            </a:r>
            <a:r>
              <a:rPr lang="es-ES" sz="1200" dirty="0">
                <a:solidFill>
                  <a:schemeClr val="accent1"/>
                </a:solidFill>
                <a:hlinkClick r:id="rId4"/>
              </a:rPr>
              <a:t>://public.flourish.studio/visualisation/27181692</a:t>
            </a:r>
            <a:r>
              <a:rPr lang="es-ES" sz="1200" dirty="0" smtClean="0">
                <a:solidFill>
                  <a:schemeClr val="accent1"/>
                </a:solidFill>
                <a:hlinkClick r:id="rId4"/>
              </a:rPr>
              <a:t>/</a:t>
            </a:r>
            <a:r>
              <a:rPr lang="es-ES" sz="1200" dirty="0" smtClean="0">
                <a:solidFill>
                  <a:schemeClr val="accent1"/>
                </a:solidFill>
              </a:rPr>
              <a:t> </a:t>
            </a:r>
            <a:endParaRPr lang="es-ES" sz="1200" dirty="0">
              <a:solidFill>
                <a:schemeClr val="accent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642" y="903869"/>
            <a:ext cx="5968538" cy="379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00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B763E74-B111-4F0A-990A-DC546EDB60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9261977-BEC4-4705-BB60-C4C0C74711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dirty="0"/>
          </a:p>
        </p:txBody>
      </p:sp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E61F1EFE-E608-4FCB-8DBB-12FA3AC1E2C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43" y="643464"/>
            <a:ext cx="6909336" cy="5571072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 useBgFill="1">
        <p:nvSpPr>
          <p:cNvPr id="17" name="Rectángulo 16">
            <a:extLst>
              <a:ext uri="{FF2B5EF4-FFF2-40B4-BE49-F238E27FC236}">
                <a16:creationId xmlns:a16="http://schemas.microsoft.com/office/drawing/2014/main" id="{4C7DD595-7EA3-45FF-B181-2B606353F7D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071" y="809244"/>
            <a:ext cx="6583680" cy="5239512"/>
          </a:xfrm>
          <a:prstGeom prst="rect">
            <a:avLst/>
          </a:prstGeom>
          <a:ln w="6350" cap="sq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48B10FE-6408-43F6-9A62-B98F2DB0FF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971" y="-1"/>
            <a:ext cx="4025029" cy="6858000"/>
          </a:xfrm>
          <a:prstGeom prst="rect">
            <a:avLst/>
          </a:prstGeom>
          <a:blipFill dpi="0" rotWithShape="1">
            <a:blip r:embed="rId3">
              <a:alphaModFix amt="1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822" y="646849"/>
            <a:ext cx="3996178" cy="5571071"/>
          </a:xfrm>
        </p:spPr>
        <p:txBody>
          <a:bodyPr rtlCol="0">
            <a:normAutofit/>
          </a:bodyPr>
          <a:lstStyle/>
          <a:p>
            <a:pPr algn="ctr" rtl="0"/>
            <a:r>
              <a:rPr lang="es-ES" sz="4000" dirty="0" smtClean="0">
                <a:solidFill>
                  <a:srgbClr val="FFFFFF"/>
                </a:solidFill>
              </a:rPr>
              <a:t>TEMPERATURA</a:t>
            </a:r>
            <a:endParaRPr lang="es-ES" sz="4000" dirty="0">
              <a:solidFill>
                <a:srgbClr val="FFFFFF"/>
              </a:solidFill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5F3F6C66-D6D7-4A72-9928-967AEA400766}"/>
              </a:ext>
            </a:extLst>
          </p:cNvPr>
          <p:cNvSpPr txBox="1">
            <a:spLocks/>
          </p:cNvSpPr>
          <p:nvPr/>
        </p:nvSpPr>
        <p:spPr>
          <a:xfrm>
            <a:off x="1231040" y="5103295"/>
            <a:ext cx="5702925" cy="350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z="1200" dirty="0">
                <a:solidFill>
                  <a:schemeClr val="accent1"/>
                </a:solidFill>
              </a:rPr>
              <a:t>Disponible a: </a:t>
            </a:r>
            <a:r>
              <a:rPr lang="es-ES" sz="1200" dirty="0">
                <a:solidFill>
                  <a:schemeClr val="accent1"/>
                </a:solidFill>
                <a:hlinkClick r:id="rId4"/>
              </a:rPr>
              <a:t>https://public.flourish.studio/visualisation/27182444</a:t>
            </a:r>
            <a:r>
              <a:rPr lang="es-ES" sz="1200" dirty="0" smtClean="0">
                <a:solidFill>
                  <a:schemeClr val="accent1"/>
                </a:solidFill>
                <a:hlinkClick r:id="rId4"/>
              </a:rPr>
              <a:t>/</a:t>
            </a:r>
            <a:r>
              <a:rPr lang="es-ES" sz="1200" dirty="0" smtClean="0">
                <a:solidFill>
                  <a:schemeClr val="accent1"/>
                </a:solidFill>
              </a:rPr>
              <a:t> </a:t>
            </a:r>
            <a:endParaRPr lang="es-ES" sz="1200" dirty="0">
              <a:solidFill>
                <a:schemeClr val="accent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750" y="1129813"/>
            <a:ext cx="5752215" cy="385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93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E61F3-2745-486A-9B37-D1351783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rtl="0"/>
            <a:r>
              <a:rPr lang="es-ES" sz="3200" dirty="0" smtClean="0"/>
              <a:t>EFECTES ALS PRIMERS 30 DIES</a:t>
            </a:r>
            <a:endParaRPr lang="es-ES" sz="3200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idx="1"/>
          </p:nvPr>
        </p:nvSpPr>
        <p:spPr>
          <a:xfrm>
            <a:off x="1069848" y="5956298"/>
            <a:ext cx="4754880" cy="394626"/>
          </a:xfrm>
        </p:spPr>
        <p:txBody>
          <a:bodyPr>
            <a:normAutofit fontScale="62500" lnSpcReduction="20000"/>
          </a:bodyPr>
          <a:lstStyle/>
          <a:p>
            <a:r>
              <a:rPr lang="ca-ES" dirty="0" smtClean="0"/>
              <a:t>Disponible</a:t>
            </a:r>
            <a:r>
              <a:rPr lang="ca-ES" dirty="0"/>
              <a:t>: </a:t>
            </a:r>
            <a:r>
              <a:rPr lang="ca-ES" dirty="0">
                <a:hlinkClick r:id="rId3"/>
              </a:rPr>
              <a:t>https://public.flourish.studio/visualisation/27182411</a:t>
            </a:r>
            <a:r>
              <a:rPr lang="ca-ES" dirty="0" smtClean="0">
                <a:hlinkClick r:id="rId3"/>
              </a:rPr>
              <a:t>/</a:t>
            </a:r>
            <a:r>
              <a:rPr lang="ca-ES" dirty="0" smtClean="0"/>
              <a:t> </a:t>
            </a:r>
            <a:endParaRPr lang="ca-ES" dirty="0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 dirty="0" smtClean="0"/>
              <a:t>TEMPERATURES MÀXIMES</a:t>
            </a:r>
            <a:endParaRPr lang="ca-ES" dirty="0"/>
          </a:p>
        </p:txBody>
      </p:sp>
      <p:sp>
        <p:nvSpPr>
          <p:cNvPr id="16" name="Marcador de texto 9"/>
          <p:cNvSpPr txBox="1">
            <a:spLocks/>
          </p:cNvSpPr>
          <p:nvPr/>
        </p:nvSpPr>
        <p:spPr>
          <a:xfrm>
            <a:off x="1222248" y="2226734"/>
            <a:ext cx="4754880" cy="64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mtClean="0"/>
              <a:t>TEMPERATURES MÍNIMES</a:t>
            </a:r>
            <a:endParaRPr lang="ca-ES" dirty="0"/>
          </a:p>
        </p:txBody>
      </p:sp>
      <p:pic>
        <p:nvPicPr>
          <p:cNvPr id="18" name="Marcador de contenido 17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75" y="2971366"/>
            <a:ext cx="4754563" cy="2769467"/>
          </a:xfrm>
        </p:spPr>
      </p:pic>
      <p:pic>
        <p:nvPicPr>
          <p:cNvPr id="22" name="Marcador de contenido 2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813" y="2965932"/>
            <a:ext cx="4754562" cy="2780336"/>
          </a:xfrm>
        </p:spPr>
      </p:pic>
      <p:sp>
        <p:nvSpPr>
          <p:cNvPr id="24" name="Marcador de texto 9"/>
          <p:cNvSpPr txBox="1">
            <a:spLocks/>
          </p:cNvSpPr>
          <p:nvPr/>
        </p:nvSpPr>
        <p:spPr>
          <a:xfrm>
            <a:off x="6370320" y="5956298"/>
            <a:ext cx="4754880" cy="394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dirty="0" smtClean="0"/>
              <a:t>Disponible</a:t>
            </a:r>
            <a:r>
              <a:rPr lang="ca-ES" dirty="0"/>
              <a:t>: </a:t>
            </a:r>
            <a:r>
              <a:rPr lang="ca-ES" dirty="0">
                <a:hlinkClick r:id="rId6"/>
              </a:rPr>
              <a:t>https://public.flourish.studio/visualisation/27182346</a:t>
            </a:r>
            <a:r>
              <a:rPr lang="ca-ES" dirty="0" smtClean="0">
                <a:hlinkClick r:id="rId6"/>
              </a:rPr>
              <a:t>/</a:t>
            </a:r>
            <a:r>
              <a:rPr lang="ca-ES" dirty="0" smtClean="0"/>
              <a:t>  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491186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E61F3-2745-486A-9B37-D1351783A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ctr" rtl="0"/>
            <a:r>
              <a:rPr lang="es-ES" sz="3200" dirty="0" smtClean="0"/>
              <a:t>EFECTES ALS DARRERS 30 DIES</a:t>
            </a:r>
            <a:endParaRPr lang="es-ES" sz="3200" dirty="0"/>
          </a:p>
        </p:txBody>
      </p:sp>
      <p:sp>
        <p:nvSpPr>
          <p:cNvPr id="10" name="Marcador de texto 9"/>
          <p:cNvSpPr>
            <a:spLocks noGrp="1"/>
          </p:cNvSpPr>
          <p:nvPr>
            <p:ph type="body" idx="1"/>
          </p:nvPr>
        </p:nvSpPr>
        <p:spPr>
          <a:xfrm>
            <a:off x="1069848" y="5956298"/>
            <a:ext cx="4754880" cy="394626"/>
          </a:xfrm>
        </p:spPr>
        <p:txBody>
          <a:bodyPr>
            <a:normAutofit fontScale="62500" lnSpcReduction="20000"/>
          </a:bodyPr>
          <a:lstStyle/>
          <a:p>
            <a:r>
              <a:rPr lang="ca-ES" dirty="0" smtClean="0"/>
              <a:t>Disponible</a:t>
            </a:r>
            <a:r>
              <a:rPr lang="ca-ES" dirty="0"/>
              <a:t>: </a:t>
            </a:r>
            <a:r>
              <a:rPr lang="ca-ES" dirty="0">
                <a:hlinkClick r:id="rId3"/>
              </a:rPr>
              <a:t>https://public.flourish.studio/visualisation/27182404</a:t>
            </a:r>
            <a:r>
              <a:rPr lang="ca-ES" dirty="0" smtClean="0">
                <a:hlinkClick r:id="rId3"/>
              </a:rPr>
              <a:t>/</a:t>
            </a:r>
            <a:r>
              <a:rPr lang="ca-ES" dirty="0" smtClean="0"/>
              <a:t>  </a:t>
            </a:r>
            <a:endParaRPr lang="ca-ES" dirty="0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ca-ES" dirty="0" smtClean="0"/>
              <a:t>TEMPERATURES MÀXIMES</a:t>
            </a:r>
            <a:endParaRPr lang="ca-ES" dirty="0"/>
          </a:p>
        </p:txBody>
      </p:sp>
      <p:sp>
        <p:nvSpPr>
          <p:cNvPr id="16" name="Marcador de texto 9"/>
          <p:cNvSpPr txBox="1">
            <a:spLocks/>
          </p:cNvSpPr>
          <p:nvPr/>
        </p:nvSpPr>
        <p:spPr>
          <a:xfrm>
            <a:off x="1222248" y="2226734"/>
            <a:ext cx="4754880" cy="640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mtClean="0"/>
              <a:t>TEMPERATURES MÍNIMES</a:t>
            </a:r>
            <a:endParaRPr lang="ca-ES" dirty="0"/>
          </a:p>
        </p:txBody>
      </p:sp>
      <p:sp>
        <p:nvSpPr>
          <p:cNvPr id="24" name="Marcador de texto 9"/>
          <p:cNvSpPr txBox="1">
            <a:spLocks/>
          </p:cNvSpPr>
          <p:nvPr/>
        </p:nvSpPr>
        <p:spPr>
          <a:xfrm>
            <a:off x="6370320" y="5956298"/>
            <a:ext cx="4754880" cy="3946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2">
                  <a:lumMod val="60000"/>
                  <a:lumOff val="40000"/>
                </a:schemeClr>
              </a:buClr>
              <a:buFont typeface="Arial" pitchFamily="34" charset="0"/>
              <a:buNone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dirty="0" smtClean="0"/>
              <a:t>Disponible</a:t>
            </a:r>
            <a:r>
              <a:rPr lang="ca-ES" dirty="0"/>
              <a:t>: </a:t>
            </a:r>
            <a:r>
              <a:rPr lang="ca-ES" dirty="0">
                <a:hlinkClick r:id="rId4"/>
              </a:rPr>
              <a:t>https://public.flourish.studio/visualisation/27182381</a:t>
            </a:r>
            <a:r>
              <a:rPr lang="ca-ES" dirty="0" smtClean="0">
                <a:hlinkClick r:id="rId4"/>
              </a:rPr>
              <a:t>/</a:t>
            </a:r>
            <a:r>
              <a:rPr lang="ca-ES" dirty="0" smtClean="0"/>
              <a:t>   </a:t>
            </a:r>
            <a:endParaRPr lang="ca-ES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975" y="2906220"/>
            <a:ext cx="4754563" cy="2899760"/>
          </a:xfrm>
        </p:spPr>
      </p:pic>
      <p:pic>
        <p:nvPicPr>
          <p:cNvPr id="7" name="Marcador de contenido 6"/>
          <p:cNvPicPr>
            <a:picLocks noGrp="1" noChangeAspect="1"/>
          </p:cNvPicPr>
          <p:nvPr>
            <p:ph sz="quarter" idx="4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813" y="2964385"/>
            <a:ext cx="4754562" cy="2783430"/>
          </a:xfrm>
        </p:spPr>
      </p:pic>
    </p:spTree>
    <p:extLst>
      <p:ext uri="{BB962C8B-B14F-4D97-AF65-F5344CB8AC3E}">
        <p14:creationId xmlns:p14="http://schemas.microsoft.com/office/powerpoint/2010/main" val="2049619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ángulo 13">
            <a:extLst>
              <a:ext uri="{FF2B5EF4-FFF2-40B4-BE49-F238E27FC236}">
                <a16:creationId xmlns:a16="http://schemas.microsoft.com/office/drawing/2014/main" id="{06FF3823-BBAD-4D28-B6DB-E416E24090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3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" y="-14590"/>
            <a:ext cx="12217938" cy="687259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0E20F056-0FFD-4EE9-BDCB-8963C7F8BA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7507ED7-71D7-4B95-8D4F-7B3E186238E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A38E6D2-F0D9-4B69-ABEB-EB70412E8C7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135880" y="1267730"/>
            <a:ext cx="1920240" cy="731520"/>
            <a:chOff x="4828372" y="1267730"/>
            <a:chExt cx="2227748" cy="731520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025EA075-7728-48F3-B18E-92389160DD9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35880" y="1267730"/>
              <a:ext cx="1920240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50800" dist="127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1115E6AD-1E2A-40FE-B424-56271D8A89F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28372" y="1267730"/>
              <a:ext cx="1567331" cy="645295"/>
              <a:chOff x="5318306" y="1386268"/>
              <a:chExt cx="1567331" cy="645295"/>
            </a:xfrm>
          </p:grpSpPr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D2CFBBA0-D70F-4068-8385-B020EA21AAB4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5318306" y="1386268"/>
                <a:ext cx="0" cy="640080"/>
              </a:xfrm>
              <a:prstGeom prst="lin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rgbClr val="FFFFFF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D963F62F-FFD6-43CD-BE0D-00770BB97C05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6885637" y="1386268"/>
                <a:ext cx="0" cy="640080"/>
              </a:xfrm>
              <a:prstGeom prst="lin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rgbClr val="FFFFFF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875688F4-0BFA-49D0-92B0-84CBE5508B01}"/>
                  </a:ext>
                  <a:ext uri="{C183D7F6-B498-43B3-948B-1728B52AA6E4}">
                    <adec:decorative xmlns:adec="http://schemas.microsoft.com/office/drawing/2017/decorative" xmlns="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5318306" y="2031563"/>
                <a:ext cx="1567331" cy="0"/>
              </a:xfrm>
              <a:prstGeom prst="lin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rgbClr val="FFFFFF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BB58C53-AF1A-4577-9FD9-2A6A3DDEA5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E5F7F7DE-2DAA-4260-B379-423DEC36F32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2BAEBB-B897-4E2E-8BE7-753F1060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863" y="2091263"/>
            <a:ext cx="9576262" cy="18833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sz="5800" dirty="0" smtClean="0"/>
              <a:t>Fi de la </a:t>
            </a:r>
            <a:r>
              <a:rPr lang="es-ES" sz="5800" dirty="0" err="1" smtClean="0"/>
              <a:t>presentació</a:t>
            </a:r>
            <a:endParaRPr lang="es-ES" sz="5800" dirty="0"/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459DEA66-4826-47AE-AD32-B06226F8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62100" y="3974586"/>
            <a:ext cx="9070848" cy="1164677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rtl="0">
              <a:spcBef>
                <a:spcPts val="0"/>
              </a:spcBef>
            </a:pPr>
            <a:r>
              <a:rPr lang="es-ES" spc="80" dirty="0" smtClean="0"/>
              <a:t>Francesc Llàtzer Bosch Martorell</a:t>
            </a:r>
          </a:p>
          <a:p>
            <a:pPr>
              <a:spcBef>
                <a:spcPts val="0"/>
              </a:spcBef>
            </a:pPr>
            <a:r>
              <a:rPr lang="es-ES" spc="80" dirty="0" smtClean="0">
                <a:hlinkClick r:id="rId5"/>
              </a:rPr>
              <a:t>fbosch@uoc.edu</a:t>
            </a:r>
            <a:r>
              <a:rPr lang="es-ES" spc="80" dirty="0"/>
              <a:t/>
            </a:r>
            <a:br>
              <a:rPr lang="es-ES" spc="80" dirty="0"/>
            </a:br>
            <a:r>
              <a:rPr lang="es-ES" spc="80" dirty="0"/>
              <a:t/>
            </a:r>
            <a:br>
              <a:rPr lang="es-ES" spc="80" dirty="0"/>
            </a:br>
            <a:r>
              <a:rPr lang="es-ES" spc="80" dirty="0"/>
              <a:t>Font de </a:t>
            </a:r>
            <a:r>
              <a:rPr lang="es-ES" spc="80" dirty="0" err="1"/>
              <a:t>dades</a:t>
            </a:r>
            <a:r>
              <a:rPr lang="es-ES" spc="80" dirty="0"/>
              <a:t>: </a:t>
            </a:r>
            <a:r>
              <a:rPr lang="es-ES" spc="80" dirty="0">
                <a:hlinkClick r:id="rId6"/>
              </a:rPr>
              <a:t>https://</a:t>
            </a:r>
            <a:r>
              <a:rPr lang="es-ES" spc="80" dirty="0" smtClean="0">
                <a:hlinkClick r:id="rId6"/>
              </a:rPr>
              <a:t>archive.ics.uci.edu/dataset/1186/paddy+dataset</a:t>
            </a:r>
            <a:endParaRPr lang="es-ES" spc="80" dirty="0" smtClean="0"/>
          </a:p>
          <a:p>
            <a:pPr>
              <a:spcBef>
                <a:spcPts val="0"/>
              </a:spcBef>
            </a:pPr>
            <a:r>
              <a:rPr lang="es-ES" spc="80" dirty="0" err="1" smtClean="0"/>
              <a:t>Repositori</a:t>
            </a:r>
            <a:r>
              <a:rPr lang="es-ES" spc="80" dirty="0" smtClean="0"/>
              <a:t> </a:t>
            </a:r>
            <a:r>
              <a:rPr lang="es-ES" spc="80" dirty="0" err="1" smtClean="0"/>
              <a:t>amb</a:t>
            </a:r>
            <a:r>
              <a:rPr lang="es-ES" spc="80" dirty="0" smtClean="0"/>
              <a:t> scripts de </a:t>
            </a:r>
            <a:r>
              <a:rPr lang="es-ES" spc="80" dirty="0" err="1" smtClean="0"/>
              <a:t>tractament</a:t>
            </a:r>
            <a:r>
              <a:rPr lang="es-ES" spc="80" dirty="0" smtClean="0"/>
              <a:t> de </a:t>
            </a:r>
            <a:r>
              <a:rPr lang="es-ES" spc="80" dirty="0" err="1" smtClean="0"/>
              <a:t>dades</a:t>
            </a:r>
            <a:r>
              <a:rPr lang="es-ES" spc="80" dirty="0" smtClean="0"/>
              <a:t>:</a:t>
            </a:r>
            <a:endParaRPr lang="es-ES" spc="80" dirty="0" smtClean="0"/>
          </a:p>
          <a:p>
            <a:pPr>
              <a:spcBef>
                <a:spcPts val="0"/>
              </a:spcBef>
            </a:pPr>
            <a:endParaRPr lang="es-ES" spc="80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C0C984F-4779-40F8-A8DC-59DD7615BE5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7D5430C-DB52-4EA6-8319-C7AC4C1710C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166ECFA-EC1E-4CD9-A9CC-1EBFE29AB8B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C746FE2E-3188-4CA0-96F7-21A68D1B19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9061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29751727_TF78440441" id="{8124CA7B-D09D-4442-8065-5B4988299C03}" vid="{ED9CC861-8305-4014-8AEE-D8DC3668254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CC21C94-EC06-4610-B8F0-A456DD28CD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C0DB4D-BE53-4100-8A0D-CEFB2E48282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5D6F7AD-09FB-47AB-B353-D1D83850E3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Diseño Garden Savon</Template>
  <TotalTime>0</TotalTime>
  <Words>132</Words>
  <Application>Microsoft Office PowerPoint</Application>
  <PresentationFormat>Panorámica</PresentationFormat>
  <Paragraphs>33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Savon</vt:lpstr>
      <vt:lpstr>Pràctica 2 Visualització de dades</vt:lpstr>
      <vt:lpstr>ÚS DE FERTILITZANT</vt:lpstr>
      <vt:lpstr>VELOCITAT DEL VENT</vt:lpstr>
      <vt:lpstr>HUMITAT RELATIVA</vt:lpstr>
      <vt:lpstr>TEMPERATURA</vt:lpstr>
      <vt:lpstr>EFECTES ALS PRIMERS 30 DIES</vt:lpstr>
      <vt:lpstr>EFECTES ALS DARRERS 30 DIES</vt:lpstr>
      <vt:lpstr>Fi de la presentació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2026-01-13T00:37:15Z</dcterms:created>
  <dcterms:modified xsi:type="dcterms:W3CDTF">2026-01-13T15:58:48Z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